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3653D-8D1E-2142-AFF6-3BFC618E3B1B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5F142-DB47-5F4A-ACCD-DF86FED84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33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2FEF-B447-A16A-85F4-94EE65573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E982B-1023-7482-4F0B-D53F3BDD5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788F-4E8A-245A-CDCF-A22F4D30E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89478-8F4F-D669-55F2-44AA84FFB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71CB4-1B5F-A5B3-32E4-348BF3E2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2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D8AC-3298-FED3-A159-ABEDB0D5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48F01-2B03-377A-8252-A6A20CD2B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26D66-4C93-9CF0-1821-A919FC10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7B01B-FEA7-27D1-3C87-22D73C77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CEEC6-D6E1-6F63-5425-C7AD5FBC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0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2F88-199D-FA45-315F-3092E30EE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3940A-535F-8D56-5718-436A36B8E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DD86E-DE26-1DE0-A77F-6ED27A9D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F047F-D544-6B34-5470-C74043FFF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17831-EFFD-7598-811B-5C56874F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60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4F97-CF4B-A9D3-0C28-924BE955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18D2-C0BB-5860-6F67-62923E7AD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7A4A2-843D-338F-15C5-0CBB498CC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6C433-7E64-520A-CE6D-9E7F10F9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9C1F-1C82-A345-7E9E-52DAE4BF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6A755-9340-C22D-7DCA-747EB8C8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2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D10B-9E5E-EB5D-7647-51E58381E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66BB6-797A-18D0-DF6D-3BE2F1ABB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18B99-D521-EBD8-4861-ECFB1270A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8E6C9-C87F-5745-1DCC-1E8D1B062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C2854-9632-8D9F-8619-8C4911BD7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EA0AD-7526-9D3F-B8C3-ED4A559A5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6EFA0B-122A-6961-1926-35D86642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63E0D7-CB28-9EEA-A6BD-107735F8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6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1B335-ED22-BD2F-5112-A4F90206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F7AB71-6358-7CEC-F54C-43C45C8A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D8206-BAA2-FBED-F81F-CA18CCC9C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5EA9B-829F-1008-5DBF-09C38280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28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34081-F49D-166D-3356-0CF966F1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322A3B-5CF8-80FF-4D78-676A70A6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BB1CE-5067-7455-0820-8E0CD648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45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7622-9380-83B7-7AFD-2B9D9649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FD201-F99B-F9A4-E2F9-D843DAEB7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7CA03-A85F-0754-2280-CC61ED558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8E961-C635-A451-31DE-C998EE90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64FA4-01F2-7AC1-6655-B0F873B4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96786-BA3D-DA9E-0436-D1352BCE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33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0E22-BD22-CE6E-BCC1-20F5114A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672E2-8B0D-2258-990C-B490699C2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064DC-EB51-A3C9-8329-DCA21396F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DE851-2751-4AE7-85DE-A9BE50F6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64E2C-0D3E-D7B3-881B-094AE7E9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ECC2B-99D7-DABB-6533-27A34754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4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FC154-B9D5-543E-9596-AABBA711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CC5FB-5CD9-F19F-E716-A8B386DBC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5A942-5AA6-1562-01FC-0C3678D0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C80C5-0914-8FE0-A63A-7C6881CD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35FC-5069-B193-3F75-21650995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2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70E4BD-8A05-AF25-C0EF-BDCE8FFE8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0B91E-5A61-1D83-E026-71F907306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FD33F-31F3-F584-B002-F5763297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C42A3-70C9-0323-B070-FFC739FA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71C32-6780-6634-6AF7-5710D742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56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77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99F94E-8FE8-670C-100D-195A471B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6B600-728C-E934-86A3-B282489FD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D3E81-86B6-0819-BEE1-E131DF172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D6E37-8A6E-8449-897D-3FF62621F41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01024-3152-70F6-CF75-47F1F4752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2B42B-6930-0085-701D-CA7BE89BF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7801D5-73CA-9046-98B8-3CD5EAA3D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39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113806"/>
            <a:ext cx="10972800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519446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Partnership Design Template Pack</a:t>
            </a:r>
            <a:endParaRPr lang="en-US" sz="2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34240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Plain editable templates for synthesising partnership design decisions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628749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Working Version 1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4708166"/>
            <a:ext cx="5257800" cy="11430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5019062"/>
            <a:ext cx="52578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478131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Purpose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" y="5110502"/>
            <a:ext cx="5038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 after the Excel and Word assessments to summarise the proposed partnership structure, financing pathway, risk allocation, institutional roles and implementation plan.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80760" y="4708166"/>
            <a:ext cx="5257800" cy="11430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80760" y="5019062"/>
            <a:ext cx="52578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72200" y="478131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Design approach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90488" y="5110502"/>
            <a:ext cx="5038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No decorative elements, colour system or footer. All text and boxes are editable so branding and visual treatment can be added later.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7266A72D-DF6D-F7D8-25AA-87E0BB7D5B61}"/>
              </a:ext>
            </a:extLst>
          </p:cNvPr>
          <p:cNvSpPr/>
          <p:nvPr/>
        </p:nvSpPr>
        <p:spPr>
          <a:xfrm>
            <a:off x="685800" y="786345"/>
            <a:ext cx="1998283" cy="587281"/>
          </a:xfrm>
          <a:custGeom>
            <a:avLst/>
            <a:gdLst/>
            <a:ahLst/>
            <a:cxnLst/>
            <a:rect l="l" t="t" r="r" b="b"/>
            <a:pathLst>
              <a:path w="2997424" h="880922">
                <a:moveTo>
                  <a:pt x="0" y="0"/>
                </a:moveTo>
                <a:lnTo>
                  <a:pt x="2997424" y="0"/>
                </a:lnTo>
                <a:lnTo>
                  <a:pt x="2997424" y="880922"/>
                </a:lnTo>
                <a:lnTo>
                  <a:pt x="0" y="880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Master Partnership Design Template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3108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Complete with conclusions from the diagnostic tools.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1338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731770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273177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25488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1. Opportunity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251231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Challenge, intended users, geography, scale and intended outcome.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Excel Opportunity Profile; Word Tool 3, section 2.</a:t>
            </a:r>
          </a:p>
        </p:txBody>
      </p:sp>
      <p:sp>
        <p:nvSpPr>
          <p:cNvPr id="9" name="Shape 7"/>
          <p:cNvSpPr/>
          <p:nvPr/>
        </p:nvSpPr>
        <p:spPr>
          <a:xfrm>
            <a:off x="3280410" y="987552"/>
            <a:ext cx="2731770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80410" y="987552"/>
            <a:ext cx="273177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71850" y="1060704"/>
            <a:ext cx="25488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2. Demand and payment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90138" y="1389888"/>
            <a:ext cx="251231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Evidence of demand, payer or purchaser, payment pathway and affordability.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Excel Scorecard (demand and financial dimensions); Word Tool 3, section 3.</a:t>
            </a:r>
          </a:p>
        </p:txBody>
      </p:sp>
      <p:sp>
        <p:nvSpPr>
          <p:cNvPr id="13" name="Shape 11"/>
          <p:cNvSpPr/>
          <p:nvPr/>
        </p:nvSpPr>
        <p:spPr>
          <a:xfrm>
            <a:off x="6149340" y="987552"/>
            <a:ext cx="2731770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49340" y="987552"/>
            <a:ext cx="273177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40780" y="1060704"/>
            <a:ext cx="25488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3. Delivery model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59068" y="1389888"/>
            <a:ext cx="251231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Service or product, delivery actors, channels, standards, data and verification.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Excel Scorecard (delivery dimension) and System Readiness; Word Tool 3, section 4.</a:t>
            </a:r>
          </a:p>
        </p:txBody>
      </p:sp>
      <p:sp>
        <p:nvSpPr>
          <p:cNvPr id="17" name="Shape 15"/>
          <p:cNvSpPr/>
          <p:nvPr/>
        </p:nvSpPr>
        <p:spPr>
          <a:xfrm>
            <a:off x="9018270" y="987552"/>
            <a:ext cx="2731770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18270" y="987552"/>
            <a:ext cx="273177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09710" y="1060704"/>
            <a:ext cx="25488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4. Constraint and model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27998" y="1389888"/>
            <a:ext cx="251231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Primary binding constraint, root cause, selected partnership model and conditions.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Excel Binding Constraints (confirmed constraint) and Model Selection; Word Tool 3, sections 5 and 6.</a:t>
            </a:r>
          </a:p>
        </p:txBody>
      </p:sp>
      <p:sp>
        <p:nvSpPr>
          <p:cNvPr id="21" name="Shape 19"/>
          <p:cNvSpPr/>
          <p:nvPr/>
        </p:nvSpPr>
        <p:spPr>
          <a:xfrm>
            <a:off x="411480" y="3419856"/>
            <a:ext cx="2731770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273177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3493008"/>
            <a:ext cx="25488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5. Actors and governance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1208" y="3822192"/>
            <a:ext cx="251231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Lead institution, partner roles, authority, coordination, decision rights and accountability.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Excel Actor Map and Role Selection; Word Tool 1; Word Tool 3, section 7.</a:t>
            </a:r>
          </a:p>
        </p:txBody>
      </p:sp>
      <p:sp>
        <p:nvSpPr>
          <p:cNvPr id="25" name="Shape 23"/>
          <p:cNvSpPr/>
          <p:nvPr/>
        </p:nvSpPr>
        <p:spPr>
          <a:xfrm>
            <a:off x="3280410" y="3419856"/>
            <a:ext cx="2731770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80410" y="3419856"/>
            <a:ext cx="273177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71850" y="3493008"/>
            <a:ext cx="25488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6. Capital pathway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90138" y="3822192"/>
            <a:ext cx="251231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Immediate financing need, instrument, provider, conditions, milestones and next source.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Excel Capital Sequencing; slide 6; Word Tool 3, section 8.</a:t>
            </a:r>
          </a:p>
        </p:txBody>
      </p:sp>
      <p:sp>
        <p:nvSpPr>
          <p:cNvPr id="29" name="Shape 27"/>
          <p:cNvSpPr/>
          <p:nvPr/>
        </p:nvSpPr>
        <p:spPr>
          <a:xfrm>
            <a:off x="6149340" y="3419856"/>
            <a:ext cx="2731770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49340" y="3419856"/>
            <a:ext cx="273177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40780" y="3493008"/>
            <a:ext cx="25488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7. Risk and legitimacy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59068" y="3822192"/>
            <a:ext cx="251231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Material risks, allocation, mitigation, trust, participation, inclusion and safeguards.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Excel Risk Allocation; slide 7; Word Tool 3, sections 9 and 10.</a:t>
            </a:r>
          </a:p>
        </p:txBody>
      </p:sp>
      <p:sp>
        <p:nvSpPr>
          <p:cNvPr id="33" name="Shape 31"/>
          <p:cNvSpPr/>
          <p:nvPr/>
        </p:nvSpPr>
        <p:spPr>
          <a:xfrm>
            <a:off x="9018270" y="3419856"/>
            <a:ext cx="2731770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018270" y="3419856"/>
            <a:ext cx="273177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109710" y="3493008"/>
            <a:ext cx="254889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8. Implementation and transition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127998" y="3822192"/>
            <a:ext cx="251231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Milestones, owners, dependencies, scale, refinancing, transition or exit pathway.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slide 9; Word Tool 3, section 11; Word Tool 4.</a:t>
            </a:r>
          </a:p>
        </p:txBody>
      </p:sp>
      <p:sp>
        <p:nvSpPr>
          <p:cNvPr id="37" name="Shape 35"/>
          <p:cNvSpPr/>
          <p:nvPr/>
        </p:nvSpPr>
        <p:spPr>
          <a:xfrm>
            <a:off x="411480" y="5943599"/>
            <a:ext cx="11338560" cy="60349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11480" y="6181344"/>
            <a:ext cx="113385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" y="5980177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Decision required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1208" y="6272784"/>
            <a:ext cx="11119104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Decision now • conditions outstanding • next three actions • owners • review date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Model 1: Aggregation and Warehouse Platform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3108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 where fragmented or sub-scale opportunities need pooling and standardization.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1338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What is being aggregated?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Assets, providers, contracts, receivables, projects, demand or cash flows.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39768" y="987552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39768" y="1298448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31208" y="1060704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Eligibility criteria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49496" y="1389888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Quality, performance, safeguards, size, concentration limits and exclusions.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68056" y="987552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68056" y="1298448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59496" y="1060704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Standardization requirements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77784" y="1389888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Contracts, data, reporting, servicing, verification and documentation.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2651760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2962656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2724912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Aggregator responsibilities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" y="3054096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Origination, due diligence, pooling, servicing, reporting and coordination.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39768" y="2651760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39768" y="2962656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31208" y="2724912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Portfolio economics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49496" y="3054096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Volume, diversification, cash flows, losses, fees, reserves and operating cost.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68056" y="2651760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68056" y="2962656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59496" y="2724912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Capital and credit support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77784" y="3054096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Warehouse facility, first loss, guarantee, reserve, grant or technical assistance.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11480" y="4315968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1480" y="4626864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2920" y="4389120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Data and verification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1208" y="4718304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Portfolio data, audits, performance evidence, investor reporting and claims validation.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239768" y="4315968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239768" y="4626864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31208" y="4389120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Take-out pathway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49496" y="4718304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Refinancing party, conditions, timing, tenor, currency and capital-recycling pathway.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68056" y="4315968"/>
            <a:ext cx="3681984" cy="1517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068056" y="4626864"/>
            <a:ext cx="368198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159496" y="4389120"/>
            <a:ext cx="3499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Governance and ownership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177784" y="4718304"/>
            <a:ext cx="34625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Platform owner, asset and data ownership, conflicts, accountability and transition.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11480" y="6076190"/>
            <a:ext cx="11338560" cy="5212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11480" y="6328476"/>
            <a:ext cx="113385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02920" y="6135624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Critical test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 rot="10800000" flipV="1">
            <a:off x="521208" y="6364684"/>
            <a:ext cx="111191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Does aggregation improve scale, risk diversification or transaction economics, and is there a credible take-out pathway?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Model 2: Project Preparation and Guarantee Platform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3108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 where opportunities are visible but preparation and specific risks block execution.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1338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Pipeline and screening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Eligibility, strategic fit, readiness, additionality, prioritisation and drop criteria.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04795" y="987552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04795" y="1298448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96235" y="1060704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Preparation gaps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14523" y="1389888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Technical, legal, ESG, financial, commercial, procurement and implementation gaps.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98110" y="987552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98110" y="1298448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89550" y="1060704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Preparation plan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07838" y="1389888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Workstreams, budget, advisers, owner, timeline, decision gates and quality control.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91426" y="987552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91426" y="1298448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82866" y="1060704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Approval pathway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01154" y="1389888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Policy, fiscal, procurement, permits, land, contingent liability and institutional approvals.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584741" y="987552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584741" y="1298448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76181" y="1060704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Revenue and payment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94469" y="1389888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Payer, tariff, budget, reimbursement or offtake pathway, affordability and payment security.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11480" y="3310128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" y="3621024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" y="3383280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Risk allocation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208" y="3712464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Payment, political, regulatory, completion, demand, performance, currency and social risks.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04795" y="3310128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04795" y="3621024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96235" y="3383280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Mitigation instruments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14523" y="3712464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Guarantees, reserves, insurance, liquidity, technical assistance and attached conditions.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998110" y="3310128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998110" y="3621024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89550" y="3383280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Procurement and contracts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107838" y="3712464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Procurement route, counterparties, standards, allocation, remedies and lender requirements.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291426" y="3310128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291426" y="3621024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82866" y="3383280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Capital and close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01154" y="3712464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Preparation funding, debt, equity, conditions precedent, financial close and disbursement.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584741" y="3310128"/>
            <a:ext cx="2165299" cy="21396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584741" y="3621024"/>
            <a:ext cx="216529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676181" y="3383280"/>
            <a:ext cx="19824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Platform governance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694469" y="3712464"/>
            <a:ext cx="194584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Pipeline decisions, conflicts, reporting, accountability, cost recovery and recycling.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02203" y="5662521"/>
            <a:ext cx="11338560" cy="80540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11480" y="5960272"/>
            <a:ext cx="113385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02920" y="5742432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Gate to proceed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21208" y="5998464"/>
            <a:ext cx="11119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Preparation is sufficient for credible procurement and due diligence, the payment pathway is demonstrable, and risks are allocated before guarantees or other mitigation instruments are selected.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Model 3: Predictable Delivery Network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3108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 where providers exist but purchasing, standards, verification or payment are fragmented.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1338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7432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Purchaser and payment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2523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Purchaser or payer • contracting mechanism • budget • payment timing • remedies.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10128" y="987552"/>
            <a:ext cx="27432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10128" y="1298448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01568" y="10607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Users and demand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19856" y="1389888"/>
            <a:ext cx="2523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User eligibility • service need • access • affordability • adoption • feedback.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08776" y="987552"/>
            <a:ext cx="27432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08776" y="1298448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0216" y="10607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Provider network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18504" y="1389888"/>
            <a:ext cx="2523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Provider eligibility • capacity • coverage • quality • continuity • exit rules.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07424" y="987552"/>
            <a:ext cx="2642616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07424" y="1298448"/>
            <a:ext cx="264261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98864" y="1060704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Service package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217152" y="1389888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Services or products • geography • volume • unit of payment.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" y="2496312"/>
            <a:ext cx="27432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1480" y="2807208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256946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Standards and verification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1208" y="2898648"/>
            <a:ext cx="2523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Accreditation • delivery standards • data • claims • evidence that triggers payment.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310128" y="2496312"/>
            <a:ext cx="27432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10128" y="2807208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01568" y="256946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Payment flow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19856" y="2898648"/>
            <a:ext cx="2523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Invoice or claim • verification • approval • payment • reconciliation • dispute process.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08776" y="2496312"/>
            <a:ext cx="27432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08776" y="2807208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00216" y="256946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Working capital and liquidity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18504" y="2898648"/>
            <a:ext cx="2523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Payment gap • receivables finance • liquidity facility • reserves • financing terms.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07424" y="2496312"/>
            <a:ext cx="2642616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107424" y="2807208"/>
            <a:ext cx="2642616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198864" y="2569464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Performance management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217152" y="2898648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Monitoring • incentives • sanctions • capacity support • corrective action.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11480" y="4005072"/>
            <a:ext cx="36576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11480" y="4315968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" y="40782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Accountability and safeguards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1208" y="4407408"/>
            <a:ext cx="34381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User feedback • grievances • inclusion • protection • response standards • public reporting.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270248" y="4005072"/>
            <a:ext cx="36576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270248" y="4315968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361688" y="40782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Network governance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379976" y="4407408"/>
            <a:ext cx="34381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Network manager • purchaser oversight • provider voice • decisions • conflicts • escalation.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129016" y="4005072"/>
            <a:ext cx="3621024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129016" y="4315968"/>
            <a:ext cx="362102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20456" y="4078224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Scale and transition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238744" y="4407408"/>
            <a:ext cx="34015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Provider expansion • geographic replication • institutionalisation • long-term ownership.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11480" y="5559552"/>
            <a:ext cx="11338560" cy="6583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11480" y="5866074"/>
            <a:ext cx="113385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02920" y="5632704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Critical test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5897880"/>
            <a:ext cx="11119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Can verified delivery lead to reliable and timely payment, while maintaining quality, access, accountability and sufficient provider liquidity?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Capital Pathway Template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3108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Match each instrument to a stated constraint and define the evidence required for transition.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1338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069848"/>
            <a:ext cx="15087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08413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Stage / purpose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20240" y="1069848"/>
            <a:ext cx="155448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65960" y="1108413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Constraint addressed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0" y="1069848"/>
            <a:ext cx="16002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20440" y="1108413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Capital or support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74920" y="1069848"/>
            <a:ext cx="15087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0" y="1108413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Provider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0" y="1069848"/>
            <a:ext cx="15087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0" y="1108413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Key terms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92440" y="1069848"/>
            <a:ext cx="155448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38160" y="1108413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Conditions / milestone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46920" y="1069848"/>
            <a:ext cx="21031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92640" y="1128291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Next source / transition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" y="1481328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6100" y="1627632"/>
            <a:ext cx="128294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Foundations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20240" y="1481328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74720" y="1481328"/>
            <a:ext cx="160020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74920" y="1481328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0" y="1481328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92440" y="1481328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646920" y="1481328"/>
            <a:ext cx="210312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1480" y="2240280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6100" y="2386584"/>
            <a:ext cx="128294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Preparation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920240" y="2240280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74720" y="2240280"/>
            <a:ext cx="160020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74920" y="2240280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0" y="2240280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092440" y="2240280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646920" y="2240280"/>
            <a:ext cx="210312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11480" y="2999232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6100" y="3145536"/>
            <a:ext cx="128294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Early deployment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920240" y="2999232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474720" y="2999232"/>
            <a:ext cx="160020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74920" y="2999232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0" y="2999232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092440" y="2999232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646920" y="2999232"/>
            <a:ext cx="210312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11480" y="3758184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6100" y="3904488"/>
            <a:ext cx="128294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Scale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920240" y="3758184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474720" y="3758184"/>
            <a:ext cx="160020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074920" y="3758184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583680" y="3758184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092440" y="3758184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646920" y="3758184"/>
            <a:ext cx="210312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11480" y="4517136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06100" y="4663440"/>
            <a:ext cx="128294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Recycling / transition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920240" y="4517136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474720" y="4517136"/>
            <a:ext cx="160020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074920" y="4517136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583680" y="4517136"/>
            <a:ext cx="150876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092440" y="4517136"/>
            <a:ext cx="155448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646920" y="4517136"/>
            <a:ext cx="2103120" cy="7589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11480" y="5458968"/>
            <a:ext cx="3657600" cy="9617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11480" y="5756346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02920" y="553212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Additionality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21208" y="578815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Why is this support necessary, and what participation or capability does it enable?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270248" y="5458968"/>
            <a:ext cx="3657600" cy="9617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270248" y="5756346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4361688" y="553212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Readiness condition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379976" y="578815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What must be true before the instrument is deployed or the next source enters?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129016" y="5458968"/>
            <a:ext cx="3621024" cy="9617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129016" y="5756346"/>
            <a:ext cx="362102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220456" y="5532120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Capital discipline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8238744" y="578815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Capital follows readiness and should not substitute for demand, preparation or operating-model clarity.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Risk Allocation Template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3108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Allocate risks before choosing instruments. Score 1 to 5 as in the Excel Risk Allocation tab.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1338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15087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Risk category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20240" y="1033272"/>
            <a:ext cx="19659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65960" y="116128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Risk event / description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886200" y="1033272"/>
            <a:ext cx="123444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931920" y="11612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Likelihood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20640" y="1033272"/>
            <a:ext cx="123444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66360" y="11612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Impact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55080" y="1033272"/>
            <a:ext cx="155448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116128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Current holder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09560" y="1033272"/>
            <a:ext cx="169164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55280" y="116128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Best-placed holder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01200" y="1033272"/>
            <a:ext cx="1143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46920" y="116128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Mitigation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744200" y="1033272"/>
            <a:ext cx="10515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89920" y="116128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Residual risk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" y="1444752"/>
            <a:ext cx="15087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6344" y="153142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Demand / adoption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920240" y="1444752"/>
            <a:ext cx="19659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86200" y="1444752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20640" y="1444752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1444752"/>
            <a:ext cx="155448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909560" y="1444752"/>
            <a:ext cx="16916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601200" y="1444752"/>
            <a:ext cx="114300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744200" y="1444752"/>
            <a:ext cx="10515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1480" y="1975104"/>
            <a:ext cx="15087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6344" y="206177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Payment / counterparty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920240" y="1975104"/>
            <a:ext cx="19659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886200" y="1975104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120640" y="1975104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1975104"/>
            <a:ext cx="155448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909560" y="1975104"/>
            <a:ext cx="16916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01200" y="1975104"/>
            <a:ext cx="114300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744200" y="1975104"/>
            <a:ext cx="10515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11480" y="2505456"/>
            <a:ext cx="15087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6344" y="2592126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Political / regulatory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920240" y="2505456"/>
            <a:ext cx="19659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886200" y="2505456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120640" y="2505456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355080" y="2505456"/>
            <a:ext cx="155448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909560" y="2505456"/>
            <a:ext cx="16916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601200" y="2505456"/>
            <a:ext cx="114300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0744200" y="2505456"/>
            <a:ext cx="10515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11480" y="3035808"/>
            <a:ext cx="15087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66344" y="3122478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Construction / completion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920240" y="3035808"/>
            <a:ext cx="19659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886200" y="3035808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120640" y="3035808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355080" y="3035808"/>
            <a:ext cx="155448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909560" y="3035808"/>
            <a:ext cx="16916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601200" y="3035808"/>
            <a:ext cx="114300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0744200" y="3035808"/>
            <a:ext cx="10515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11480" y="3566160"/>
            <a:ext cx="15087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66344" y="3652830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Performance / operations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920240" y="3566160"/>
            <a:ext cx="19659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3886200" y="3566160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120640" y="3566160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355080" y="3566160"/>
            <a:ext cx="155448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909560" y="3566160"/>
            <a:ext cx="16916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9601200" y="3566160"/>
            <a:ext cx="114300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0744200" y="3566160"/>
            <a:ext cx="10515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11480" y="4096512"/>
            <a:ext cx="15087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66344" y="418318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Foreign exchange / rates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920240" y="4096512"/>
            <a:ext cx="19659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886200" y="4096512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5120640" y="4096512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355080" y="4096512"/>
            <a:ext cx="155448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7909560" y="4096512"/>
            <a:ext cx="16916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9601200" y="4096512"/>
            <a:ext cx="114300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0744200" y="4096512"/>
            <a:ext cx="10515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11480" y="4626864"/>
            <a:ext cx="15087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466344" y="471353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Community / social licence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920240" y="4626864"/>
            <a:ext cx="19659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3886200" y="4626864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5120640" y="4626864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6355080" y="4626864"/>
            <a:ext cx="155448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909560" y="4626864"/>
            <a:ext cx="16916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9601200" y="4626864"/>
            <a:ext cx="114300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10744200" y="4626864"/>
            <a:ext cx="10515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411480" y="5157216"/>
            <a:ext cx="15087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466344" y="5243886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Data / verification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920240" y="5157216"/>
            <a:ext cx="19659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3886200" y="5157216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5120640" y="5157216"/>
            <a:ext cx="12344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6355080" y="5157216"/>
            <a:ext cx="155448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909560" y="5157216"/>
            <a:ext cx="169164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9601200" y="5157216"/>
            <a:ext cx="114300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0744200" y="5157216"/>
            <a:ext cx="1051560" cy="53035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411480" y="5897880"/>
            <a:ext cx="3657600" cy="64922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411480" y="6178560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502920" y="59710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Control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521208" y="6190488"/>
            <a:ext cx="34381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Who can reduce the probability of the risk?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4270248" y="5897880"/>
            <a:ext cx="3657600" cy="64922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4270248" y="6178560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4361688" y="59710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Absorption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4379976" y="6190488"/>
            <a:ext cx="34381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Who can bear the consequence if the risk occurs?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8129016" y="5897880"/>
            <a:ext cx="3666744" cy="64922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8129016" y="6178559"/>
            <a:ext cx="3666744" cy="3579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8220456" y="5971032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Monitoring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8238744" y="6190488"/>
            <a:ext cx="3401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What trigger leads to action or contingency?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Institutional Role Template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3108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Assign roles based on fit, not ambition. Record the role boundary and transition.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1338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5087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3605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Role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20240" y="987552"/>
            <a:ext cx="20574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65960" y="103605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Institution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77640" y="987552"/>
            <a:ext cx="128016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0" y="10360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Mandate / authority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57800" y="987552"/>
            <a:ext cx="14173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03520" y="103605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Capability / resources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75120" y="987552"/>
            <a:ext cx="123444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20840" y="103605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Legitimacy / risk appetite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09560" y="987552"/>
            <a:ext cx="16002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55280" y="1036056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Commitment required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09760" y="987552"/>
            <a:ext cx="224028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55480" y="1036056"/>
            <a:ext cx="213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Boundary / transition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" y="1399032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4" y="1455885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Funder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20240" y="1399032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77640" y="1399032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57800" y="1399032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75120" y="1399032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09560" y="1399032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509760" y="1399032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1480" y="1847088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6344" y="1903941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Convener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920240" y="1847088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977640" y="1847088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257800" y="1847088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675120" y="1847088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909560" y="1847088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509760" y="1847088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11480" y="2295144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6344" y="2351997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Ecosystem orchestrator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920240" y="2295144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977640" y="2295144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257800" y="2295144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675120" y="2295144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909560" y="2295144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509760" y="2295144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11480" y="2743200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66344" y="2800053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Purchaser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920240" y="2743200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977640" y="2743200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257800" y="2743200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675120" y="2743200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909560" y="2743200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509760" y="2743200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11480" y="3191256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66344" y="3248109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De-risker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920240" y="3191256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977640" y="3191256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257800" y="3191256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675120" y="3191256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909560" y="3191256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509760" y="3191256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11480" y="3639312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66344" y="3696165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Aggregator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920240" y="3639312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977640" y="3639312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257800" y="3639312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675120" y="3639312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909560" y="3639312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9509760" y="3639312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11480" y="4087368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66344" y="4144221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Operator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1920240" y="4087368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977640" y="4087368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257800" y="4087368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675120" y="4087368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909560" y="4087368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9509760" y="4087368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411480" y="4535424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466344" y="4592277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Accountability partner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920240" y="4535424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3977640" y="4535424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5257800" y="4535424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6675120" y="4535424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909560" y="4535424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9509760" y="4535424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411480" y="4983480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466344" y="5040333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Domestic capital mobilizer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920240" y="4983480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3977640" y="4983480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5257800" y="4983480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6675120" y="4983480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7909560" y="4983480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9509760" y="4983480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411480" y="5431536"/>
            <a:ext cx="15087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466344" y="5488389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Community-facing partner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1920240" y="5431536"/>
            <a:ext cx="20574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3977640" y="5431536"/>
            <a:ext cx="128016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5257800" y="5431536"/>
            <a:ext cx="141732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6675120" y="5431536"/>
            <a:ext cx="123444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7909560" y="5431536"/>
            <a:ext cx="160020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9509760" y="5431536"/>
            <a:ext cx="2240280" cy="4480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411480" y="5989320"/>
            <a:ext cx="1133856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411480" y="6261651"/>
            <a:ext cx="1133856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502920" y="6062472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Unassigned or contested roles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521208" y="6333213"/>
            <a:ext cx="111191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/>
          </a:lstStyle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Which essential functions still lack a credible owner? Which roles overlap or require a formal decision? Draw on Excel Role Selection (column K) and add rows for any other roles it identifies.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Implementation and Decision Template</a:t>
            </a:r>
            <a:endParaRPr lang="en-US" sz="2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38160" y="3108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Translate the design into gated actions, evidence and formal decisions.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11338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17993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217993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1997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0–90 days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1463040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Decision / gate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208" y="181051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208" y="19751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Deliverables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1208" y="235915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1208" y="2615184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1208" y="2816352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Owner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1208" y="3145536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1208" y="33467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Dependencies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1208" y="3675888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08" y="3877056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Completion evidence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1208" y="423367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208" y="444398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Next review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1208" y="4754880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01138" y="987552"/>
            <a:ext cx="217993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01138" y="987552"/>
            <a:ext cx="217993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92578" y="1060704"/>
            <a:ext cx="1997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3–6 months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810866" y="1463040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Decision / gate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810866" y="181051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810866" y="19751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Deliverables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810866" y="235915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810866" y="2615184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10866" y="2816352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Owner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810866" y="3145536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10866" y="33467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Dependencies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810866" y="3675888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810866" y="3877056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Completion evidence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810866" y="423367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810866" y="444398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Next review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810866" y="4754880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990795" y="987552"/>
            <a:ext cx="217993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90795" y="987552"/>
            <a:ext cx="217993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82235" y="1060704"/>
            <a:ext cx="1997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6–12 months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00523" y="1463040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Decision / gate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100523" y="181051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00523" y="19751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Deliverables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100523" y="235915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100523" y="2615184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00523" y="2816352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Owner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100523" y="3145536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100523" y="33467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Dependencies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100523" y="3675888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100523" y="3877056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Completion evidence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100523" y="423367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100523" y="444398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Next review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100523" y="4754880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280453" y="987552"/>
            <a:ext cx="217993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280453" y="987552"/>
            <a:ext cx="217993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371893" y="1060704"/>
            <a:ext cx="1997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12–24 months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390181" y="1463040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Decision / gate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390181" y="181051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390181" y="19751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Deliverables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390181" y="235915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390181" y="2615184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390181" y="2816352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Owner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390181" y="3145536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390181" y="33467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Dependencies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390181" y="3675888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390181" y="3877056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Completion evidence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390181" y="423367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390181" y="444398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Next review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390181" y="4754880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9570110" y="987552"/>
            <a:ext cx="217993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9570110" y="987552"/>
            <a:ext cx="2179930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661550" y="1060704"/>
            <a:ext cx="19970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24+ months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9679838" y="1463040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Decision / gate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9679838" y="181051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679838" y="19751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Deliverables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9679838" y="235915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9679838" y="2615184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9679838" y="2816352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Owner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9679838" y="3145536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9679838" y="334670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Dependencies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9679838" y="3675888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9679838" y="3877056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Completion evidence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9679838" y="4233672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9679838" y="4443984"/>
            <a:ext cx="19604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Next review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9679838" y="4754880"/>
            <a:ext cx="196047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411480" y="5367528"/>
            <a:ext cx="3657600" cy="850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411480" y="5683194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502920" y="54406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Decision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521208" y="5715000"/>
            <a:ext cx="3438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Approved • conditional • deferred • redesign • stopped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4270248" y="5367528"/>
            <a:ext cx="3657600" cy="850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270248" y="5683194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361688" y="54406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Conditions and escalation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4379976" y="5715000"/>
            <a:ext cx="3438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Outstanding conditions • decision authority • escalation route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8129016" y="5367528"/>
            <a:ext cx="3621024" cy="850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8129016" y="5683194"/>
            <a:ext cx="362102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8220456" y="5440680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Immediate actions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8238744" y="5715000"/>
            <a:ext cx="3401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Top three actions • owners • deadlines • completion evidence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1426</Words>
  <Application>Microsoft Macintosh PowerPoint</Application>
  <PresentationFormat>Widescreen</PresentationFormat>
  <Paragraphs>224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Kuzi Mutsvangwa</dc:creator>
  <cp:lastModifiedBy>Kuzi Mutsvangwa</cp:lastModifiedBy>
  <cp:revision>1</cp:revision>
  <dcterms:created xsi:type="dcterms:W3CDTF">2026-10-12T17:25:03Z</dcterms:created>
  <dcterms:modified xsi:type="dcterms:W3CDTF">2026-10-12T17:26:38Z</dcterms:modified>
</cp:coreProperties>
</file>